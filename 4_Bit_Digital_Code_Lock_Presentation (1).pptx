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AN REDDY" userId="4726537a63c65111" providerId="LiveId" clId="{67FEB6D1-2613-49EB-8A42-60D99994F91F}"/>
    <pc:docChg chg="modSld">
      <pc:chgData name="CHARAN REDDY" userId="4726537a63c65111" providerId="LiveId" clId="{67FEB6D1-2613-49EB-8A42-60D99994F91F}" dt="2026-09-15T05:59:07.569" v="16" actId="20577"/>
      <pc:docMkLst>
        <pc:docMk/>
      </pc:docMkLst>
      <pc:sldChg chg="modSp mod">
        <pc:chgData name="CHARAN REDDY" userId="4726537a63c65111" providerId="LiveId" clId="{67FEB6D1-2613-49EB-8A42-60D99994F91F}" dt="2026-09-15T05:56:34.391" v="6" actId="20577"/>
        <pc:sldMkLst>
          <pc:docMk/>
          <pc:sldMk cId="0" sldId="258"/>
        </pc:sldMkLst>
        <pc:spChg chg="mod">
          <ac:chgData name="CHARAN REDDY" userId="4726537a63c65111" providerId="LiveId" clId="{67FEB6D1-2613-49EB-8A42-60D99994F91F}" dt="2026-09-15T05:56:04.432" v="1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CHARAN REDDY" userId="4726537a63c65111" providerId="LiveId" clId="{67FEB6D1-2613-49EB-8A42-60D99994F91F}" dt="2026-09-15T05:56:22.465" v="4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CHARAN REDDY" userId="4726537a63c65111" providerId="LiveId" clId="{67FEB6D1-2613-49EB-8A42-60D99994F91F}" dt="2026-09-15T05:56:34.391" v="6" actId="20577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CHARAN REDDY" userId="4726537a63c65111" providerId="LiveId" clId="{67FEB6D1-2613-49EB-8A42-60D99994F91F}" dt="2026-09-15T05:57:22.317" v="12" actId="20577"/>
        <pc:sldMkLst>
          <pc:docMk/>
          <pc:sldMk cId="0" sldId="259"/>
        </pc:sldMkLst>
        <pc:spChg chg="mod">
          <ac:chgData name="CHARAN REDDY" userId="4726537a63c65111" providerId="LiveId" clId="{67FEB6D1-2613-49EB-8A42-60D99994F91F}" dt="2026-09-15T05:57:02.208" v="7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CHARAN REDDY" userId="4726537a63c65111" providerId="LiveId" clId="{67FEB6D1-2613-49EB-8A42-60D99994F91F}" dt="2026-09-15T05:57:07.111" v="8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CHARAN REDDY" userId="4726537a63c65111" providerId="LiveId" clId="{67FEB6D1-2613-49EB-8A42-60D99994F91F}" dt="2026-09-15T05:57:10.594" v="9" actId="2057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CHARAN REDDY" userId="4726537a63c65111" providerId="LiveId" clId="{67FEB6D1-2613-49EB-8A42-60D99994F91F}" dt="2026-09-15T05:57:15.544" v="10" actId="2057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CHARAN REDDY" userId="4726537a63c65111" providerId="LiveId" clId="{67FEB6D1-2613-49EB-8A42-60D99994F91F}" dt="2026-09-15T05:57:18.756" v="11" actId="20577"/>
          <ac:spMkLst>
            <pc:docMk/>
            <pc:sldMk cId="0" sldId="259"/>
            <ac:spMk id="24" creationId="{00000000-0000-0000-0000-000000000000}"/>
          </ac:spMkLst>
        </pc:spChg>
        <pc:spChg chg="mod">
          <ac:chgData name="CHARAN REDDY" userId="4726537a63c65111" providerId="LiveId" clId="{67FEB6D1-2613-49EB-8A42-60D99994F91F}" dt="2026-09-15T05:57:22.317" v="12" actId="20577"/>
          <ac:spMkLst>
            <pc:docMk/>
            <pc:sldMk cId="0" sldId="259"/>
            <ac:spMk id="28" creationId="{00000000-0000-0000-0000-000000000000}"/>
          </ac:spMkLst>
        </pc:spChg>
      </pc:sldChg>
      <pc:sldChg chg="modSp mod">
        <pc:chgData name="CHARAN REDDY" userId="4726537a63c65111" providerId="LiveId" clId="{67FEB6D1-2613-49EB-8A42-60D99994F91F}" dt="2026-09-15T05:57:49.597" v="14" actId="20577"/>
        <pc:sldMkLst>
          <pc:docMk/>
          <pc:sldMk cId="0" sldId="263"/>
        </pc:sldMkLst>
        <pc:spChg chg="mod">
          <ac:chgData name="CHARAN REDDY" userId="4726537a63c65111" providerId="LiveId" clId="{67FEB6D1-2613-49EB-8A42-60D99994F91F}" dt="2026-09-15T05:57:40.521" v="13" actId="20577"/>
          <ac:spMkLst>
            <pc:docMk/>
            <pc:sldMk cId="0" sldId="263"/>
            <ac:spMk id="20" creationId="{00000000-0000-0000-0000-000000000000}"/>
          </ac:spMkLst>
        </pc:spChg>
        <pc:spChg chg="mod">
          <ac:chgData name="CHARAN REDDY" userId="4726537a63c65111" providerId="LiveId" clId="{67FEB6D1-2613-49EB-8A42-60D99994F91F}" dt="2026-09-15T05:57:49.597" v="14" actId="20577"/>
          <ac:spMkLst>
            <pc:docMk/>
            <pc:sldMk cId="0" sldId="263"/>
            <ac:spMk id="28" creationId="{00000000-0000-0000-0000-000000000000}"/>
          </ac:spMkLst>
        </pc:spChg>
      </pc:sldChg>
      <pc:sldChg chg="modSp mod">
        <pc:chgData name="CHARAN REDDY" userId="4726537a63c65111" providerId="LiveId" clId="{67FEB6D1-2613-49EB-8A42-60D99994F91F}" dt="2026-09-15T05:59:07.569" v="16" actId="20577"/>
        <pc:sldMkLst>
          <pc:docMk/>
          <pc:sldMk cId="0" sldId="266"/>
        </pc:sldMkLst>
        <pc:spChg chg="mod">
          <ac:chgData name="CHARAN REDDY" userId="4726537a63c65111" providerId="LiveId" clId="{67FEB6D1-2613-49EB-8A42-60D99994F91F}" dt="2026-09-15T05:59:00.271" v="15" actId="20577"/>
          <ac:spMkLst>
            <pc:docMk/>
            <pc:sldMk cId="0" sldId="266"/>
            <ac:spMk id="12" creationId="{00000000-0000-0000-0000-000000000000}"/>
          </ac:spMkLst>
        </pc:spChg>
        <pc:spChg chg="mod">
          <ac:chgData name="CHARAN REDDY" userId="4726537a63c65111" providerId="LiveId" clId="{67FEB6D1-2613-49EB-8A42-60D99994F91F}" dt="2026-09-15T05:59:07.569" v="16" actId="20577"/>
          <ac:spMkLst>
            <pc:docMk/>
            <pc:sldMk cId="0" sldId="266"/>
            <ac:spMk id="1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548640"/>
            <a:ext cx="91440" cy="91440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29800" y="868680"/>
            <a:ext cx="91440" cy="91440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548640"/>
            <a:ext cx="91440" cy="91440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87000" y="868680"/>
            <a:ext cx="91440" cy="91440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515600" y="548640"/>
            <a:ext cx="91440" cy="91440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44200" y="868680"/>
            <a:ext cx="91440" cy="91440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72800" y="548640"/>
            <a:ext cx="91440" cy="91440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201400" y="868680"/>
            <a:ext cx="91440" cy="91440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9601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</a:defRPr>
            </a:pPr>
            <a:r>
              <a:t>DESIGN AND SIMULATION OF A</a:t>
            </a:r>
            <a:br/>
            <a:r>
              <a:t>4-BIT DIGITAL CODE LOCK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6032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23BED2"/>
                </a:solidFill>
              </a:defRPr>
            </a:pPr>
            <a:r>
              <a:t>Using Combinational and Sequential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3337560"/>
            <a:ext cx="83210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920240" y="3337560"/>
            <a:ext cx="82296" cy="1965960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48840" y="3502152"/>
            <a:ext cx="7909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TEAM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959352"/>
            <a:ext cx="7909560" cy="1216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1. 2620090125  —  K. CHARAN KUMAR REDDY</a:t>
            </a:r>
            <a:br/>
            <a:r>
              <a:t>2. 2620090134  —  E. SHARAN TEJA</a:t>
            </a:r>
            <a:br/>
            <a:r>
              <a:t>3. 2620090136  —  Y. TARUN KUMAR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Department of Electronics / DDCA  •  Academic Year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4"/>
                </a:solidFill>
              </a:defRPr>
            </a:pPr>
            <a:r>
              <a:t>2.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6ED2"/>
                </a:solidFill>
              </a:defRPr>
            </a:pPr>
            <a:r>
              <a:t>Digital security using logic circuits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</a:defRPr>
            </a:pPr>
            <a:r>
              <a:t>• Digital code locks provide access only when a correct input sequence or code is entered.</a:t>
            </a:r>
          </a:p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</a:defRPr>
            </a:pPr>
            <a:r>
              <a:t>• A 4-bit code lock uses four binary inputs, giving 16 possible combinations from 0000 to 1111.</a:t>
            </a:r>
          </a:p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</a:defRPr>
            </a:pPr>
            <a:r>
              <a:t>• Combinational logic determines whether the entered code matches the preset code.</a:t>
            </a:r>
          </a:p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</a:defRPr>
            </a:pPr>
            <a:r>
              <a:t>• Sequential logic adds memory, so the system can track steps, lock state, or a valid entry sequence.</a:t>
            </a:r>
          </a:p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</a:defRPr>
            </a:pPr>
            <a:r>
              <a:t>• The project demonstrates the design and simulation of a simple, low-cost digital security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DDCA Project  •  4-Bit Digital Code Lock  |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4"/>
                </a:solidFill>
              </a:defRPr>
            </a:pPr>
            <a:r>
              <a:t>3.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6ED2"/>
                </a:solidFill>
              </a:defRPr>
            </a:pPr>
            <a:r>
              <a:t>Why a digital code-lock system is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82296" cy="1828800"/>
          </a:xfrm>
          <a:prstGeom prst="rect">
            <a:avLst/>
          </a:prstGeom>
          <a:solidFill>
            <a:srgbClr val="F0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47672"/>
            <a:ext cx="3142720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Basic access systems may rely on keys</a:t>
            </a:r>
            <a:endParaRPr lang="en-US" dirty="0"/>
          </a:p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 or simple switches that can be lost, copied,</a:t>
            </a:r>
            <a:endParaRPr lang="en-US" dirty="0"/>
          </a:p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 or operated without sequence control.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82296" cy="1828800"/>
          </a:xfrm>
          <a:prstGeom prst="rect">
            <a:avLst/>
          </a:prstGeom>
          <a:solidFill>
            <a:srgbClr val="28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490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47672"/>
            <a:ext cx="2801793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A purely combinational circuit has no</a:t>
            </a:r>
            <a:endParaRPr lang="en-US" dirty="0"/>
          </a:p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 memory of previous inputs, making it </a:t>
            </a:r>
            <a:endParaRPr lang="en-US" dirty="0"/>
          </a:p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unsuitable for sequence-dependent </a:t>
            </a:r>
            <a:endParaRPr lang="en-US" dirty="0"/>
          </a:p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access control.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82296" cy="1828800"/>
          </a:xfrm>
          <a:prstGeom prst="rect">
            <a:avLst/>
          </a:prstGeom>
          <a:solidFill>
            <a:srgbClr val="2D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490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47672"/>
            <a:ext cx="3252237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A compact system should verify a 4-bit code, </a:t>
            </a:r>
            <a:endParaRPr lang="en-US" dirty="0"/>
          </a:p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remember the required state, and provide </a:t>
            </a:r>
            <a:endParaRPr lang="en-US" dirty="0"/>
          </a:p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clear LOCK/UNLOCK outputs.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</a:defRPr>
            </a:pPr>
            <a:r>
              <a:t>• Design a system that combines immediate logic comparison with state/memory elements.</a:t>
            </a:r>
          </a:p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</a:defRPr>
            </a:pPr>
            <a:r>
              <a:t>• Verify the design through simulation before hardware implementation.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DDCA Project  •  4-Bit Digital Code Lock  |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4"/>
                </a:solidFill>
              </a:defRPr>
            </a:pPr>
            <a:r>
              <a:t>4.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6ED2"/>
                </a:solidFill>
              </a:defRPr>
            </a:pPr>
            <a:r>
              <a:t>Specific goals of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82296" cy="1417320"/>
          </a:xfrm>
          <a:prstGeom prst="rect">
            <a:avLst/>
          </a:prstGeom>
          <a:solidFill>
            <a:srgbClr val="28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01 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47672"/>
            <a:ext cx="321722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Develop a 4-bit digital code-lock circuit using</a:t>
            </a:r>
            <a:endParaRPr lang="en-US" dirty="0"/>
          </a:p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 logic gates and memory elements.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82296" cy="1417320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490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02  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47672"/>
            <a:ext cx="286219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Compare the entered 4-bit code with a </a:t>
            </a:r>
            <a:endParaRPr lang="en-US" dirty="0"/>
          </a:p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predefined valid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82296" cy="1417320"/>
          </a:xfrm>
          <a:prstGeom prst="rect">
            <a:avLst/>
          </a:prstGeom>
          <a:solidFill>
            <a:srgbClr val="2D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490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03  Sequence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47672"/>
            <a:ext cx="333649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Use sequential logic to retain system state and</a:t>
            </a:r>
            <a:endParaRPr lang="en-US" dirty="0"/>
          </a:p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 support controlled unlocking.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632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063240"/>
            <a:ext cx="82296" cy="1417320"/>
          </a:xfrm>
          <a:prstGeom prst="rect">
            <a:avLst/>
          </a:prstGeom>
          <a:solidFill>
            <a:srgbClr val="F0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22783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04  Indicate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685032"/>
            <a:ext cx="251421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Generate clear LOCK and UNLOCK </a:t>
            </a:r>
            <a:endParaRPr lang="en-US" dirty="0"/>
          </a:p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status outputs.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0632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063240"/>
            <a:ext cx="82296" cy="1417320"/>
          </a:xfrm>
          <a:prstGeom prst="rect">
            <a:avLst/>
          </a:prstGeom>
          <a:solidFill>
            <a:srgbClr val="28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22783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05  Simulate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685032"/>
            <a:ext cx="302897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Test correct and incorrect code conditions</a:t>
            </a:r>
            <a:endParaRPr lang="en-US" dirty="0"/>
          </a:p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 using simulation.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0632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3063240"/>
            <a:ext cx="82296" cy="1417320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322783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06  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685032"/>
            <a:ext cx="306846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Discuss reliability, limitations, and possible</a:t>
            </a:r>
            <a:endParaRPr lang="en-US" dirty="0"/>
          </a:p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 improvements.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DDCA Project  •  4-Bit Digital Code Lock  |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4"/>
                </a:solidFill>
              </a:defRPr>
            </a:pPr>
            <a:r>
              <a:t>5. Literature Survey / 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6ED2"/>
                </a:solidFill>
              </a:defRPr>
            </a:pPr>
            <a:r>
              <a:t>Common approaches to digital access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82296" cy="3566160"/>
          </a:xfrm>
          <a:prstGeom prst="rect">
            <a:avLst/>
          </a:prstGeom>
          <a:solidFill>
            <a:srgbClr val="F0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44751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Mechanical 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3017520" cy="2816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• Physical key is required</a:t>
            </a:r>
            <a:br/>
            <a:r>
              <a:t>• Simple and familiar</a:t>
            </a:r>
            <a:br/>
            <a:r>
              <a:t>• Key can be lost or duplicated</a:t>
            </a:r>
            <a:br/>
            <a:r>
              <a:t>• No digital state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82296" cy="3566160"/>
          </a:xfrm>
          <a:prstGeom prst="rect">
            <a:avLst/>
          </a:prstGeom>
          <a:solidFill>
            <a:srgbClr val="28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444751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Keypad / Digital 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01952"/>
            <a:ext cx="3017520" cy="2816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• User enters a code</a:t>
            </a:r>
            <a:br/>
            <a:r>
              <a:t>• Electronic comparison is possible</a:t>
            </a:r>
            <a:br/>
            <a:r>
              <a:t>• Can use LEDs, buzzers or displays</a:t>
            </a:r>
            <a:br/>
            <a:r>
              <a:t>• More flexible than a 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8016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82296" cy="3566160"/>
          </a:xfrm>
          <a:prstGeom prst="rect">
            <a:avLst/>
          </a:prstGeom>
          <a:solidFill>
            <a:srgbClr val="2D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444751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Proposed Learning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01952"/>
            <a:ext cx="3017520" cy="2816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• 4-bit binary code</a:t>
            </a:r>
            <a:br/>
            <a:r>
              <a:t>• Combinational code comparison</a:t>
            </a:r>
            <a:br/>
            <a:r>
              <a:t>• Sequential state/memory</a:t>
            </a:r>
            <a:br/>
            <a:r>
              <a:t>• Easy to simulate and understand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DDCA Project  •  4-Bit Digital Code Lock  |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4"/>
                </a:solidFill>
              </a:defRPr>
            </a:pPr>
            <a:r>
              <a:t>6.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6ED2"/>
                </a:solidFill>
              </a:defRPr>
            </a:pPr>
            <a:r>
              <a:t>A hybrid combinational + sequential digital 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A34"/>
                </a:solidFill>
              </a:defRPr>
            </a:pPr>
            <a:r>
              <a:t>• Four input switches represent the entered binary code.</a:t>
            </a:r>
          </a:p>
          <a:p>
            <a:pPr>
              <a:spcAft>
                <a:spcPts val="1300"/>
              </a:spcAft>
              <a:defRPr sz="1700">
                <a:solidFill>
                  <a:srgbClr val="232A34"/>
                </a:solidFill>
              </a:defRPr>
            </a:pPr>
            <a:r>
              <a:t>• XNOR logic compares each input bit with the corresponding preset code bit.</a:t>
            </a:r>
          </a:p>
          <a:p>
            <a:pPr>
              <a:spcAft>
                <a:spcPts val="1300"/>
              </a:spcAft>
              <a:defRPr sz="1700">
                <a:solidFill>
                  <a:srgbClr val="232A34"/>
                </a:solidFill>
              </a:defRPr>
            </a:pPr>
            <a:r>
              <a:t>• AND logic combines the four equality signals to produce a VALID-CODE signal.</a:t>
            </a:r>
          </a:p>
          <a:p>
            <a:pPr>
              <a:spcAft>
                <a:spcPts val="1300"/>
              </a:spcAft>
              <a:defRPr sz="1700">
                <a:solidFill>
                  <a:srgbClr val="232A34"/>
                </a:solidFill>
              </a:defRPr>
            </a:pPr>
            <a:r>
              <a:t>• A flip-flop or state register stores the lock/unlock state and prevents the output from depending only on an instantaneous input.</a:t>
            </a:r>
          </a:p>
          <a:p>
            <a:pPr>
              <a:spcAft>
                <a:spcPts val="1300"/>
              </a:spcAft>
              <a:defRPr sz="1700">
                <a:solidFill>
                  <a:srgbClr val="232A34"/>
                </a:solidFill>
              </a:defRPr>
            </a:pPr>
            <a:r>
              <a:t>• Reset returns the system to the LOCKED state; a correct code can move the system to UNLOCKED.</a:t>
            </a:r>
          </a:p>
          <a:p>
            <a:pPr>
              <a:spcAft>
                <a:spcPts val="1300"/>
              </a:spcAft>
              <a:defRPr sz="1700">
                <a:solidFill>
                  <a:srgbClr val="232A34"/>
                </a:solidFill>
              </a:defRPr>
            </a:pPr>
            <a:r>
              <a:t>• LEDs or logic probes display the current status during simulation.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DDCA Project  •  4-Bit Digital Code Lock  |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4"/>
                </a:solidFill>
              </a:defRPr>
            </a:pPr>
            <a:r>
              <a:t>7. System Architecture / Block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6ED2"/>
                </a:solidFill>
              </a:defRPr>
            </a:pPr>
            <a:r>
              <a:t>Signal flow from code entry to access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164592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2423160"/>
            <a:ext cx="14264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32344"/>
                </a:solidFill>
              </a:defRPr>
            </a:pPr>
            <a:r>
              <a:t>4-BIT INPUT</a:t>
            </a:r>
            <a:br/>
            <a:r>
              <a:t>SWITCHES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40280" y="2770632"/>
            <a:ext cx="713232" cy="0"/>
          </a:xfrm>
          <a:prstGeom prst="line">
            <a:avLst/>
          </a:prstGeom>
          <a:ln w="25400">
            <a:solidFill>
              <a:srgbClr val="232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71800" y="2148840"/>
            <a:ext cx="164592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81528" y="2423160"/>
            <a:ext cx="14264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32344"/>
                </a:solidFill>
              </a:defRPr>
            </a:pPr>
            <a:r>
              <a:t>CODE</a:t>
            </a:r>
            <a:br/>
            <a:r>
              <a:t>COMPARATOR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17720" y="2770632"/>
            <a:ext cx="713232" cy="0"/>
          </a:xfrm>
          <a:prstGeom prst="line">
            <a:avLst/>
          </a:prstGeom>
          <a:ln w="25400">
            <a:solidFill>
              <a:srgbClr val="232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49240" y="2148840"/>
            <a:ext cx="164592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A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58968" y="2423160"/>
            <a:ext cx="14264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32344"/>
                </a:solidFill>
              </a:defRPr>
            </a:pPr>
            <a:r>
              <a:t>VALID CODE</a:t>
            </a:r>
            <a:br/>
            <a:r>
              <a:t>LOGIC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95159" y="2770632"/>
            <a:ext cx="713233" cy="0"/>
          </a:xfrm>
          <a:prstGeom prst="line">
            <a:avLst/>
          </a:prstGeom>
          <a:ln w="25400">
            <a:solidFill>
              <a:srgbClr val="232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26679" y="2148840"/>
            <a:ext cx="164592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7" y="2423160"/>
            <a:ext cx="14264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32344"/>
                </a:solidFill>
              </a:defRPr>
            </a:pPr>
            <a:r>
              <a:t>SEQUENTIAL</a:t>
            </a:r>
            <a:br/>
            <a:r>
              <a:t>STATE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72600" y="2770632"/>
            <a:ext cx="713232" cy="0"/>
          </a:xfrm>
          <a:prstGeom prst="line">
            <a:avLst/>
          </a:prstGeom>
          <a:ln w="25400">
            <a:solidFill>
              <a:srgbClr val="232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104120" y="2148840"/>
            <a:ext cx="164592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13848" y="2423160"/>
            <a:ext cx="14264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32344"/>
                </a:solidFill>
              </a:defRPr>
            </a:pPr>
            <a:r>
              <a:t>LOCK / UNLOCK</a:t>
            </a:r>
            <a:br/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886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09137"/>
                </a:solidFill>
              </a:defRPr>
            </a:pPr>
            <a:r>
              <a:t>RESET → LOCKED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A34"/>
                </a:solidFill>
              </a:defRPr>
            </a:pPr>
            <a:r>
              <a:t>• Data path: Inputs → bit comparison → code validity → state update → output.</a:t>
            </a:r>
          </a:p>
          <a:p>
            <a:pPr>
              <a:spcAft>
                <a:spcPts val="1300"/>
              </a:spcAft>
              <a:defRPr sz="1600">
                <a:solidFill>
                  <a:srgbClr val="232A34"/>
                </a:solidFill>
              </a:defRPr>
            </a:pPr>
            <a:r>
              <a:t>• The sequential block provides memory for the system state.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DDCA Project  •  4-Bit Digital Code Lock  |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4"/>
                </a:solidFill>
              </a:defRPr>
            </a:pPr>
            <a:r>
              <a:t>8. Methodology /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6ED2"/>
                </a:solidFill>
              </a:defRPr>
            </a:pPr>
            <a:r>
              <a:t>Design steps and circuit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82296" cy="1783080"/>
          </a:xfrm>
          <a:prstGeom prst="rect">
            <a:avLst/>
          </a:prstGeom>
          <a:solidFill>
            <a:srgbClr val="28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9903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1. Define 4-bit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01752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Select a preset code and input representation.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23444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234440"/>
            <a:ext cx="82296" cy="1783080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39903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2. Build comparator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856232"/>
            <a:ext cx="301752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Use four XNOR gates to test bit-by-bit equality.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23444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234440"/>
            <a:ext cx="82296" cy="1783080"/>
          </a:xfrm>
          <a:prstGeom prst="rect">
            <a:avLst/>
          </a:prstGeom>
          <a:solidFill>
            <a:srgbClr val="2D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139903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3. Combine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856232"/>
            <a:ext cx="301752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Use AND logic to create the VALID-CODE signal.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747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474720"/>
            <a:ext cx="82296" cy="1783080"/>
          </a:xfrm>
          <a:prstGeom prst="rect">
            <a:avLst/>
          </a:prstGeom>
          <a:solidFill>
            <a:srgbClr val="F0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6393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4. Add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96512"/>
            <a:ext cx="240052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Use a flip-flop/state element for </a:t>
            </a:r>
            <a:endParaRPr lang="en-US" dirty="0"/>
          </a:p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LOCKED/UNLOCKED status.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4747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3474720"/>
            <a:ext cx="82296" cy="1783080"/>
          </a:xfrm>
          <a:prstGeom prst="rect">
            <a:avLst/>
          </a:prstGeom>
          <a:solidFill>
            <a:srgbClr val="28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60" y="36393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5. Connect outputs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96512"/>
            <a:ext cx="301752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Drive LOCK/UNLOCK LEDs or logic probes.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4747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75320" y="3474720"/>
            <a:ext cx="82296" cy="1783080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36393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6. Simulate &amp;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096512"/>
            <a:ext cx="302788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Apply correct and incorrect combinations </a:t>
            </a:r>
            <a:endParaRPr lang="en-US" dirty="0"/>
          </a:p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and observe outputs.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DDCA Project  •  4-Bit Digital Code Lock  |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4"/>
                </a:solidFill>
              </a:defRPr>
            </a:pPr>
            <a:r>
              <a:t>9. Logic Design &amp; Truth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6ED2"/>
                </a:solidFill>
              </a:defRPr>
            </a:pPr>
            <a:r>
              <a:t>Example preset code: 1011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2834640" cy="566928"/>
          </a:xfrm>
          <a:prstGeom prst="rect">
            <a:avLst/>
          </a:prstGeom>
          <a:solidFill>
            <a:srgbClr val="132344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2704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 B C 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417320"/>
            <a:ext cx="2011680" cy="566928"/>
          </a:xfrm>
          <a:prstGeom prst="rect">
            <a:avLst/>
          </a:prstGeom>
          <a:solidFill>
            <a:srgbClr val="132344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03320" y="152704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VALID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417320"/>
            <a:ext cx="2286000" cy="566928"/>
          </a:xfrm>
          <a:prstGeom prst="rect">
            <a:avLst/>
          </a:prstGeom>
          <a:solidFill>
            <a:srgbClr val="132344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15000" y="152704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UNLOCK*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984248"/>
            <a:ext cx="28346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093976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232A34"/>
                </a:solidFill>
              </a:defRPr>
            </a:pPr>
            <a:r>
              <a:t>1011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984248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2093976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232A34"/>
                </a:solidFill>
              </a:defRPr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984248"/>
            <a:ext cx="2286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0" y="2093976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232A34"/>
                </a:solidFill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551176"/>
            <a:ext cx="2834640" cy="566928"/>
          </a:xfrm>
          <a:prstGeom prst="rect">
            <a:avLst/>
          </a:prstGeom>
          <a:solidFill>
            <a:srgbClr val="EBF2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266090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232A34"/>
                </a:solidFill>
              </a:defRPr>
            </a:pPr>
            <a:r>
              <a:t>0000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551176"/>
            <a:ext cx="2011680" cy="566928"/>
          </a:xfrm>
          <a:prstGeom prst="rect">
            <a:avLst/>
          </a:prstGeom>
          <a:solidFill>
            <a:srgbClr val="EBF2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03320" y="266090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232A34"/>
                </a:solidFill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2551176"/>
            <a:ext cx="2286000" cy="566928"/>
          </a:xfrm>
          <a:prstGeom prst="rect">
            <a:avLst/>
          </a:prstGeom>
          <a:solidFill>
            <a:srgbClr val="EBF2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5000" y="26609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232A34"/>
                </a:solidFill>
              </a:defRPr>
            </a:pPr>
            <a: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118104"/>
            <a:ext cx="28346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22783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232A34"/>
                </a:solidFill>
              </a:defRPr>
            </a:pPr>
            <a:r>
              <a:t>1111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118104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03320" y="322783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232A34"/>
                </a:solidFill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3118104"/>
            <a:ext cx="2286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15000" y="322783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232A34"/>
                </a:solidFill>
              </a:defRPr>
            </a:pPr>
            <a: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685032"/>
            <a:ext cx="2834640" cy="566928"/>
          </a:xfrm>
          <a:prstGeom prst="rect">
            <a:avLst/>
          </a:prstGeom>
          <a:solidFill>
            <a:srgbClr val="EBF2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37947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232A34"/>
                </a:solidFill>
              </a:defRPr>
            </a:pPr>
            <a:r>
              <a:t>1001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3685032"/>
            <a:ext cx="2011680" cy="566928"/>
          </a:xfrm>
          <a:prstGeom prst="rect">
            <a:avLst/>
          </a:prstGeom>
          <a:solidFill>
            <a:srgbClr val="EBF2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03320" y="379476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232A34"/>
                </a:solidFill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3685032"/>
            <a:ext cx="2286000" cy="566928"/>
          </a:xfrm>
          <a:prstGeom prst="rect">
            <a:avLst/>
          </a:prstGeom>
          <a:solidFill>
            <a:srgbClr val="EBF2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15000" y="37947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232A34"/>
                </a:solidFill>
              </a:defRPr>
            </a:pPr>
            <a: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4251960"/>
            <a:ext cx="28346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436168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232A34"/>
                </a:solidFill>
              </a:defRPr>
            </a:pPr>
            <a:r>
              <a:t>0011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4251960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03320" y="436168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232A34"/>
                </a:solidFill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4251960"/>
            <a:ext cx="2286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715000" y="436168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232A34"/>
                </a:solidFill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1463040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A34"/>
                </a:solidFill>
              </a:defRPr>
            </a:pPr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DDCA Project  •  4-Bit Digital Code Lock  |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4"/>
                </a:solidFill>
              </a:defRPr>
            </a:pPr>
            <a:r>
              <a:t>10. Simulation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6ED2"/>
                </a:solidFill>
              </a:defRPr>
            </a:pPr>
            <a:r>
              <a:t>Expected behavior of the digital lock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835640" cy="4480560"/>
          </a:xfrm>
          <a:prstGeom prst="roundRect">
            <a:avLst/>
          </a:prstGeom>
          <a:solidFill>
            <a:srgbClr val="FAFC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32344"/>
                </a:solidFill>
              </a:defRPr>
            </a:pPr>
            <a:r>
              <a:t>Simulation test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1011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057400"/>
            <a:ext cx="1097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057400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2A34"/>
                </a:solidFill>
              </a:defRPr>
            </a:pPr>
            <a:r>
              <a:t>UNLOCKED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057400"/>
            <a:ext cx="4023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Correct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1010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697480"/>
            <a:ext cx="1097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697480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2A34"/>
                </a:solidFill>
              </a:defRPr>
            </a:pPr>
            <a:r>
              <a:t>LOCKED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697480"/>
            <a:ext cx="4023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One-bit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37560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0011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337560"/>
            <a:ext cx="1097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337560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2A34"/>
                </a:solidFill>
              </a:defRPr>
            </a:pPr>
            <a:r>
              <a:t>LOCKED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337560"/>
            <a:ext cx="4023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Incorrect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77639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1111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977639"/>
            <a:ext cx="1097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977639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2A34"/>
                </a:solidFill>
              </a:defRPr>
            </a:pPr>
            <a:r>
              <a:t>LOCKED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977639"/>
            <a:ext cx="4023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Incorrect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617720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RESET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17720"/>
            <a:ext cx="1097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617720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2A34"/>
                </a:solidFill>
              </a:defRPr>
            </a:pPr>
            <a:r>
              <a:t>LOCKED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617720"/>
            <a:ext cx="4023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Reset condition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257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A55F"/>
                </a:solidFill>
              </a:defRPr>
            </a:pPr>
            <a:r>
              <a:t>Result: only the predefined 4-bit code produces a valid access request; reset restores the locked state.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DDCA Project  •  4-Bit Digital Code Lock  |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44"/>
                </a:solidFill>
              </a:defRPr>
            </a:pPr>
            <a:r>
              <a:t>11. Results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6ED2"/>
                </a:solidFill>
              </a:defRPr>
            </a:pPr>
            <a:r>
              <a:t>Performance, advantages and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82296" cy="3474720"/>
          </a:xfrm>
          <a:prstGeom prst="rect">
            <a:avLst/>
          </a:prstGeom>
          <a:solidFill>
            <a:srgbClr val="2D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Observed / Expected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47672"/>
            <a:ext cx="3017520" cy="2724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✓ Correct code detected</a:t>
            </a:r>
            <a:br/>
            <a:r>
              <a:t>✓ Wrong codes rejected</a:t>
            </a:r>
            <a:br/>
            <a:r>
              <a:t>✓ Sequential state retains LOCK/UNLOCK</a:t>
            </a:r>
            <a:br/>
            <a:r>
              <a:t>✓ Reset returns to LOCKED</a:t>
            </a:r>
            <a:br/>
            <a:r>
              <a:t>✓ Logic is easy to verify in simulation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82296" cy="3474720"/>
          </a:xfrm>
          <a:prstGeom prst="rect">
            <a:avLst/>
          </a:prstGeom>
          <a:solidFill>
            <a:srgbClr val="28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490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Advantages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47672"/>
            <a:ext cx="3177216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• Low component complexity</a:t>
            </a:r>
            <a:br>
              <a:rPr dirty="0"/>
            </a:br>
            <a:r>
              <a:rPr dirty="0"/>
              <a:t>• Fast logic response</a:t>
            </a:r>
            <a:br>
              <a:rPr dirty="0"/>
            </a:br>
            <a:r>
              <a:rPr dirty="0"/>
              <a:t>• Easy to simulate</a:t>
            </a:r>
            <a:br>
              <a:rPr dirty="0"/>
            </a:br>
            <a:r>
              <a:rPr dirty="0"/>
              <a:t>• Demonstrates combinational + sequential </a:t>
            </a:r>
            <a:endParaRPr lang="en-US" dirty="0"/>
          </a:p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concepts</a:t>
            </a:r>
            <a:br>
              <a:rPr dirty="0"/>
            </a:br>
            <a:r>
              <a:rPr dirty="0"/>
              <a:t>• Can be extended with a keypad or display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82296" cy="3474720"/>
          </a:xfrm>
          <a:prstGeom prst="rect">
            <a:avLst/>
          </a:prstGeom>
          <a:solidFill>
            <a:srgbClr val="F0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490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44"/>
                </a:solidFill>
              </a:defRPr>
            </a:pPr>
            <a:r>
              <a:t>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47672"/>
            <a:ext cx="3049937" cy="10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• 4-bit code offers only 16 combinations</a:t>
            </a:r>
            <a:br>
              <a:rPr dirty="0"/>
            </a:br>
            <a:r>
              <a:rPr dirty="0"/>
              <a:t>• No user authentication beyond the code</a:t>
            </a:r>
            <a:br>
              <a:rPr dirty="0"/>
            </a:br>
            <a:r>
              <a:rPr dirty="0"/>
              <a:t>• Basic design has no alarm/lockout timer</a:t>
            </a:r>
            <a:br>
              <a:rPr dirty="0"/>
            </a:br>
            <a:r>
              <a:rPr dirty="0"/>
              <a:t>• Hardware implementation needs</a:t>
            </a:r>
            <a:endParaRPr lang="en-US" dirty="0"/>
          </a:p>
          <a:p>
            <a:pPr>
              <a:defRPr sz="1300">
                <a:solidFill>
                  <a:srgbClr val="232A34"/>
                </a:solidFill>
              </a:defRPr>
            </a:pPr>
            <a:r>
              <a:rPr dirty="0"/>
              <a:t> debouncing and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DDCA Project  •  4-Bit Digital Code Lock  |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9" y="1887557"/>
            <a:ext cx="111556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23BED2"/>
                </a:solidFill>
              </a:defRPr>
            </a:pPr>
            <a:r>
              <a:rPr lang="en-US" sz="6000" dirty="0"/>
              <a:t>  </a:t>
            </a:r>
            <a:r>
              <a:rPr sz="6000" dirty="0"/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/>
              <a:t>K. Charan Kumar Reddy  •  E. Sharan Teja  •  Y. Tarun Kumar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1013</Words>
  <Application>Microsoft Office PowerPoint</Application>
  <PresentationFormat>Widescreen</PresentationFormat>
  <Paragraphs>157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CHARAN REDDY</cp:lastModifiedBy>
  <cp:revision>2</cp:revision>
  <dcterms:created xsi:type="dcterms:W3CDTF">2013-01-27T09:14:16Z</dcterms:created>
  <dcterms:modified xsi:type="dcterms:W3CDTF">2026-09-15T05:59:15Z</dcterms:modified>
  <cp:category/>
</cp:coreProperties>
</file>